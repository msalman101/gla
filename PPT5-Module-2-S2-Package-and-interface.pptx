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34" r:id="rId3"/>
    <p:sldId id="400" r:id="rId4"/>
    <p:sldId id="401" r:id="rId5"/>
    <p:sldId id="405" r:id="rId6"/>
    <p:sldId id="461" r:id="rId7"/>
    <p:sldId id="406" r:id="rId8"/>
    <p:sldId id="403" r:id="rId9"/>
    <p:sldId id="414" r:id="rId10"/>
    <p:sldId id="407" r:id="rId11"/>
    <p:sldId id="413" r:id="rId12"/>
    <p:sldId id="415" r:id="rId13"/>
    <p:sldId id="408" r:id="rId14"/>
    <p:sldId id="416" r:id="rId15"/>
    <p:sldId id="419" r:id="rId16"/>
    <p:sldId id="420" r:id="rId17"/>
    <p:sldId id="430" r:id="rId18"/>
    <p:sldId id="431" r:id="rId19"/>
    <p:sldId id="432" r:id="rId20"/>
    <p:sldId id="428" r:id="rId21"/>
    <p:sldId id="429" r:id="rId22"/>
    <p:sldId id="411" r:id="rId23"/>
    <p:sldId id="433" r:id="rId24"/>
    <p:sldId id="435" r:id="rId25"/>
    <p:sldId id="436" r:id="rId26"/>
    <p:sldId id="441" r:id="rId27"/>
    <p:sldId id="442" r:id="rId28"/>
    <p:sldId id="443" r:id="rId29"/>
    <p:sldId id="446" r:id="rId30"/>
    <p:sldId id="456" r:id="rId31"/>
    <p:sldId id="444" r:id="rId32"/>
    <p:sldId id="445" r:id="rId33"/>
    <p:sldId id="437" r:id="rId34"/>
    <p:sldId id="447" r:id="rId35"/>
    <p:sldId id="458" r:id="rId36"/>
    <p:sldId id="457" r:id="rId37"/>
    <p:sldId id="438" r:id="rId38"/>
    <p:sldId id="463" r:id="rId39"/>
    <p:sldId id="464" r:id="rId40"/>
    <p:sldId id="439" r:id="rId41"/>
    <p:sldId id="449" r:id="rId42"/>
    <p:sldId id="450" r:id="rId43"/>
    <p:sldId id="459" r:id="rId44"/>
    <p:sldId id="440" r:id="rId45"/>
    <p:sldId id="451" r:id="rId46"/>
    <p:sldId id="455" r:id="rId47"/>
    <p:sldId id="460" r:id="rId48"/>
    <p:sldId id="452" r:id="rId49"/>
    <p:sldId id="465" r:id="rId50"/>
    <p:sldId id="453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47" autoAdjust="0"/>
    <p:restoredTop sz="87636" autoAdjust="0"/>
  </p:normalViewPr>
  <p:slideViewPr>
    <p:cSldViewPr snapToGrid="0">
      <p:cViewPr varScale="1">
        <p:scale>
          <a:sx n="77" d="100"/>
          <a:sy n="77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36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0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5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48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2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9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3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14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68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4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29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C3B00-F499-4404-8928-9CFFB6411072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32DDB-B156-4DA6-8D1D-4CE06B7B4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3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inheritance-in-java" TargetMode="External"/><Relationship Id="rId2" Type="http://schemas.openxmlformats.org/officeDocument/2006/relationships/hyperlink" Target="https://www.javatpoint.com/abstract-class-in-java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ava-8-features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Programming </a:t>
            </a:r>
            <a:r>
              <a:rPr lang="en-US" b="1" dirty="0"/>
              <a:t>in  Java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(</a:t>
            </a:r>
            <a:r>
              <a:rPr lang="en-US" b="1" dirty="0"/>
              <a:t>BCAC 0012)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Module-2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	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4193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Module 2 Section 3 </a:t>
            </a:r>
            <a:br>
              <a:rPr lang="en-US" dirty="0" smtClean="0"/>
            </a:br>
            <a:r>
              <a:rPr lang="en-US" dirty="0" smtClean="0"/>
              <a:t>Packages and Interfaces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8275" y="3149274"/>
            <a:ext cx="9767217" cy="106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44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Syllabus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Defining Packages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Importing Packages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b="1" dirty="0"/>
              <a:t>User Defined packages and predefined packages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Introduction to Interfaces.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72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Packages is Java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 java package is a group of similar types of classes, interfaces and sub-packages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</a:t>
            </a:r>
            <a:r>
              <a:rPr lang="en-US" dirty="0"/>
              <a:t> Package can be defined as a grouping of related types (classes, interfaces, enumerations and annotations ) providing access protection and namespace management.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22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Packages is Java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Package in java can be categorized in two form, built-in package and user-defined package.</a:t>
            </a:r>
          </a:p>
          <a:p>
            <a:r>
              <a:rPr lang="en-US" dirty="0"/>
              <a:t>There are many built-in packages such as  </a:t>
            </a:r>
            <a:r>
              <a:rPr lang="en-US" dirty="0" err="1"/>
              <a:t>lang</a:t>
            </a:r>
            <a:r>
              <a:rPr lang="en-US" dirty="0"/>
              <a:t>, </a:t>
            </a:r>
            <a:r>
              <a:rPr lang="en-US" dirty="0" err="1"/>
              <a:t>awt</a:t>
            </a:r>
            <a:r>
              <a:rPr lang="en-US" dirty="0"/>
              <a:t>, </a:t>
            </a:r>
            <a:r>
              <a:rPr lang="en-US" dirty="0" err="1"/>
              <a:t>javax</a:t>
            </a:r>
            <a:r>
              <a:rPr lang="en-US" dirty="0"/>
              <a:t>, swing, net, </a:t>
            </a:r>
            <a:r>
              <a:rPr lang="en-US" dirty="0" err="1"/>
              <a:t>io</a:t>
            </a:r>
            <a:r>
              <a:rPr lang="en-US" dirty="0"/>
              <a:t>, </a:t>
            </a:r>
            <a:r>
              <a:rPr lang="en-US" dirty="0" err="1"/>
              <a:t>util</a:t>
            </a:r>
            <a:r>
              <a:rPr lang="en-US" dirty="0"/>
              <a:t>, </a:t>
            </a:r>
            <a:r>
              <a:rPr lang="en-US" dirty="0" err="1"/>
              <a:t>sql</a:t>
            </a:r>
            <a:r>
              <a:rPr lang="en-US" dirty="0"/>
              <a:t> etc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 can also create our user defined packages.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56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 of Java Package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1) Java package is used to categorize the classes and interfaces so that they can be easily maintained.</a:t>
            </a:r>
          </a:p>
          <a:p>
            <a:pPr marL="0" indent="0">
              <a:buNone/>
            </a:pPr>
            <a:r>
              <a:rPr lang="en-US" dirty="0"/>
              <a:t>2) Java package provides access protection.</a:t>
            </a:r>
          </a:p>
          <a:p>
            <a:pPr marL="0" indent="0">
              <a:buNone/>
            </a:pPr>
            <a:r>
              <a:rPr lang="en-US" dirty="0"/>
              <a:t>3) Java package removes naming collision.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58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Packages is Java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814" y="1823186"/>
            <a:ext cx="8692468" cy="46525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8126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 are two types of Packages in Java-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4105"/>
            <a:ext cx="10515600" cy="481285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User Defined </a:t>
            </a:r>
            <a:r>
              <a:rPr lang="en-US" dirty="0" smtClean="0"/>
              <a:t>packages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predefined packages (In-Built packages)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546" y="2385935"/>
            <a:ext cx="4474907" cy="41722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8325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Predefined packages or Built in packages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Built-in is a part of Java API. </a:t>
            </a:r>
            <a:endParaRPr lang="en-US" dirty="0" smtClean="0"/>
          </a:p>
          <a:p>
            <a:pPr algn="just"/>
            <a:r>
              <a:rPr lang="en-US" dirty="0" smtClean="0"/>
              <a:t>These </a:t>
            </a:r>
            <a:r>
              <a:rPr lang="en-US" dirty="0"/>
              <a:t>packages come with JDK and we can directly import and use these packages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every java program the </a:t>
            </a:r>
            <a:r>
              <a:rPr lang="en-US" dirty="0" err="1"/>
              <a:t>java.lang</a:t>
            </a:r>
            <a:r>
              <a:rPr lang="en-US" dirty="0"/>
              <a:t> package is already imported and no need to import it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We </a:t>
            </a:r>
            <a:r>
              <a:rPr lang="en-US" dirty="0"/>
              <a:t>have to import all other packages as and when needed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32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Predefined packages or Built in packages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0027"/>
          </a:xfrm>
        </p:spPr>
        <p:txBody>
          <a:bodyPr>
            <a:normAutofit fontScale="85000" lnSpcReduction="10000"/>
          </a:bodyPr>
          <a:lstStyle/>
          <a:p>
            <a:r>
              <a:rPr lang="en-US" sz="3300" dirty="0" smtClean="0"/>
              <a:t>Java </a:t>
            </a:r>
            <a:r>
              <a:rPr lang="en-US" sz="3300" dirty="0"/>
              <a:t>offers a variety of built in packages. </a:t>
            </a:r>
            <a:endParaRPr lang="en-US" sz="3300" dirty="0" smtClean="0"/>
          </a:p>
          <a:p>
            <a:r>
              <a:rPr lang="en-US" sz="3300" dirty="0" smtClean="0"/>
              <a:t>The </a:t>
            </a:r>
            <a:r>
              <a:rPr lang="en-US" sz="3300" dirty="0"/>
              <a:t>six major packages offered by Java API are : </a:t>
            </a:r>
            <a:endParaRPr lang="en-US" sz="33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 err="1"/>
              <a:t>lang</a:t>
            </a:r>
            <a:r>
              <a:rPr lang="en-US" sz="3200" b="1" dirty="0"/>
              <a:t> –</a:t>
            </a:r>
            <a:r>
              <a:rPr lang="en-US" sz="3200" dirty="0"/>
              <a:t> </a:t>
            </a:r>
            <a:r>
              <a:rPr lang="en-US" sz="3200" dirty="0" smtClean="0"/>
              <a:t>	Automatically </a:t>
            </a:r>
            <a:r>
              <a:rPr lang="en-US" sz="3200" dirty="0"/>
              <a:t>imported and it contains language </a:t>
            </a:r>
            <a:r>
              <a:rPr lang="en-US" sz="3200" dirty="0" smtClean="0"/>
              <a:t>				support </a:t>
            </a:r>
            <a:r>
              <a:rPr lang="en-US" sz="3200" dirty="0"/>
              <a:t>classes.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 err="1"/>
              <a:t>io</a:t>
            </a:r>
            <a:r>
              <a:rPr lang="en-US" sz="3200" dirty="0"/>
              <a:t> – </a:t>
            </a:r>
            <a:r>
              <a:rPr lang="en-US" sz="3200" dirty="0" smtClean="0"/>
              <a:t>	Contains </a:t>
            </a:r>
            <a:r>
              <a:rPr lang="en-US" sz="3200" dirty="0"/>
              <a:t>classes for input and output operations.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 err="1"/>
              <a:t>util</a:t>
            </a:r>
            <a:r>
              <a:rPr lang="en-US" sz="3200" dirty="0"/>
              <a:t> </a:t>
            </a:r>
            <a:r>
              <a:rPr lang="en-US" sz="3200" dirty="0" smtClean="0"/>
              <a:t>–	</a:t>
            </a:r>
            <a:r>
              <a:rPr lang="en-US" sz="3200" dirty="0"/>
              <a:t> Contains utility classes for implementing data structures.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applet</a:t>
            </a:r>
            <a:r>
              <a:rPr lang="en-US" sz="3200" dirty="0"/>
              <a:t> – </a:t>
            </a:r>
            <a:r>
              <a:rPr lang="en-US" sz="3200" dirty="0" smtClean="0"/>
              <a:t>	This </a:t>
            </a:r>
            <a:r>
              <a:rPr lang="en-US" sz="3200" dirty="0"/>
              <a:t>package contains classes that create applets.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 err="1"/>
              <a:t>awt</a:t>
            </a:r>
            <a:r>
              <a:rPr lang="en-US" sz="3200" dirty="0"/>
              <a:t> – </a:t>
            </a:r>
            <a:r>
              <a:rPr lang="en-US" sz="3200" dirty="0" smtClean="0"/>
              <a:t>	Contain </a:t>
            </a:r>
            <a:r>
              <a:rPr lang="en-US" sz="3200" dirty="0"/>
              <a:t>classes that implement compounds for GUI.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net</a:t>
            </a:r>
            <a:r>
              <a:rPr lang="en-US" sz="3200" dirty="0"/>
              <a:t> – </a:t>
            </a:r>
            <a:r>
              <a:rPr lang="en-US" sz="3200" dirty="0" smtClean="0"/>
              <a:t>	This </a:t>
            </a:r>
            <a:r>
              <a:rPr lang="en-US" sz="3200" dirty="0"/>
              <a:t>package contains classes that support networking </a:t>
            </a:r>
            <a:r>
              <a:rPr lang="en-US" sz="3200" dirty="0" smtClean="0"/>
              <a:t>			operations</a:t>
            </a:r>
            <a:r>
              <a:rPr lang="en-US" sz="3200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32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Defined Packages : Defining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In Java, the user creates these packages according to their requirements. </a:t>
            </a:r>
          </a:p>
          <a:p>
            <a:pPr algn="just"/>
            <a:r>
              <a:rPr lang="en-US" dirty="0"/>
              <a:t>While creating a package, you should choose a name for the package and include a </a:t>
            </a:r>
            <a:r>
              <a:rPr lang="en-US" b="1" dirty="0"/>
              <a:t>package</a:t>
            </a:r>
            <a:r>
              <a:rPr lang="en-US" dirty="0"/>
              <a:t> statement along with that name at the </a:t>
            </a:r>
            <a:r>
              <a:rPr lang="en-US" dirty="0" smtClean="0"/>
              <a:t>top.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6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Defined Packages : Defining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Example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800" dirty="0"/>
              <a:t>package </a:t>
            </a:r>
            <a:r>
              <a:rPr lang="en-US" sz="2800" dirty="0" err="1"/>
              <a:t>mypack</a:t>
            </a:r>
            <a:r>
              <a:rPr lang="en-US" sz="2800" dirty="0"/>
              <a:t>;  </a:t>
            </a:r>
          </a:p>
          <a:p>
            <a:pPr marL="457200" lvl="1" indent="0">
              <a:buNone/>
            </a:pPr>
            <a:r>
              <a:rPr lang="en-US" sz="2800" dirty="0"/>
              <a:t>public class Simple</a:t>
            </a:r>
          </a:p>
          <a:p>
            <a:pPr marL="457200" lvl="1" indent="0">
              <a:buNone/>
            </a:pPr>
            <a:r>
              <a:rPr lang="en-US" sz="2800" dirty="0"/>
              <a:t>{  </a:t>
            </a:r>
          </a:p>
          <a:p>
            <a:pPr marL="457200" lvl="1" indent="0">
              <a:buNone/>
            </a:pPr>
            <a:r>
              <a:rPr lang="en-US" sz="2800" dirty="0"/>
              <a:t> public static void main(String </a:t>
            </a:r>
            <a:r>
              <a:rPr lang="en-US" sz="2800" dirty="0" err="1"/>
              <a:t>args</a:t>
            </a:r>
            <a:r>
              <a:rPr lang="en-US" sz="2800" dirty="0" smtClean="0"/>
              <a:t>[])</a:t>
            </a:r>
          </a:p>
          <a:p>
            <a:pPr marL="457200" lvl="1" indent="0">
              <a:buNone/>
            </a:pPr>
            <a:r>
              <a:rPr lang="en-US" sz="2800" dirty="0" smtClean="0"/>
              <a:t>{</a:t>
            </a:r>
            <a:r>
              <a:rPr lang="en-US" sz="2800" dirty="0"/>
              <a:t>  </a:t>
            </a:r>
          </a:p>
          <a:p>
            <a:pPr marL="457200" lvl="1" indent="0">
              <a:buNone/>
            </a:pPr>
            <a:r>
              <a:rPr lang="en-US" sz="2800" dirty="0"/>
              <a:t>    </a:t>
            </a:r>
            <a:r>
              <a:rPr lang="en-US" sz="2800" dirty="0" err="1"/>
              <a:t>System.out.println</a:t>
            </a:r>
            <a:r>
              <a:rPr lang="en-US" sz="2800" dirty="0"/>
              <a:t>("Welcome to package");  </a:t>
            </a:r>
          </a:p>
          <a:p>
            <a:pPr marL="457200" lvl="1" indent="0">
              <a:buNone/>
            </a:pPr>
            <a:r>
              <a:rPr lang="en-US" sz="2800" dirty="0"/>
              <a:t>   }  </a:t>
            </a:r>
          </a:p>
          <a:p>
            <a:pPr marL="457200" lvl="1" indent="0">
              <a:buNone/>
            </a:pPr>
            <a:r>
              <a:rPr lang="en-US" sz="2800" dirty="0"/>
              <a:t>}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605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Defined Packages : Defining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 </a:t>
            </a:r>
            <a:r>
              <a:rPr lang="en-US" dirty="0" smtClean="0"/>
              <a:t>The </a:t>
            </a:r>
            <a:r>
              <a:rPr lang="en-US" dirty="0"/>
              <a:t>package statement should be the first line in the source file. </a:t>
            </a:r>
            <a:endParaRPr lang="en-US" dirty="0" smtClean="0"/>
          </a:p>
          <a:p>
            <a:pPr algn="just"/>
            <a:r>
              <a:rPr lang="en-US" dirty="0" smtClean="0"/>
              <a:t>There </a:t>
            </a:r>
            <a:r>
              <a:rPr lang="en-US" dirty="0"/>
              <a:t>can be only one package statement in each source </a:t>
            </a:r>
            <a:r>
              <a:rPr lang="en-US" dirty="0" smtClean="0"/>
              <a:t>file.</a:t>
            </a:r>
            <a:endParaRPr lang="en-US" dirty="0"/>
          </a:p>
          <a:p>
            <a:pPr algn="just"/>
            <a:r>
              <a:rPr lang="en-US" dirty="0"/>
              <a:t>If a package statement is not used then the class, interfaces, enumerations, and annotation types will be placed in the </a:t>
            </a:r>
            <a:r>
              <a:rPr lang="en-US" b="1" dirty="0"/>
              <a:t>current default </a:t>
            </a:r>
            <a:r>
              <a:rPr lang="en-US" b="1" dirty="0" smtClean="0"/>
              <a:t>package.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5649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Defined Packages : Defining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to compile and run the Simple.java program </a:t>
            </a:r>
          </a:p>
          <a:p>
            <a:pPr marL="0" indent="0">
              <a:buNone/>
            </a:pPr>
            <a:r>
              <a:rPr lang="en-US" dirty="0" smtClean="0"/>
              <a:t>// Simple.java</a:t>
            </a:r>
          </a:p>
          <a:p>
            <a:pPr marL="0" indent="0">
              <a:buNone/>
            </a:pPr>
            <a:r>
              <a:rPr lang="en-US" dirty="0"/>
              <a:t>package </a:t>
            </a:r>
            <a:r>
              <a:rPr lang="en-US" dirty="0" err="1"/>
              <a:t>mypack</a:t>
            </a:r>
            <a:r>
              <a:rPr lang="en-US" dirty="0"/>
              <a:t>;  </a:t>
            </a:r>
          </a:p>
          <a:p>
            <a:pPr marL="0" indent="0">
              <a:buNone/>
            </a:pPr>
            <a:r>
              <a:rPr lang="en-US" dirty="0"/>
              <a:t>public class Simple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 public static void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0" indent="0">
              <a:buNone/>
            </a:pPr>
            <a:r>
              <a:rPr lang="en-US" dirty="0"/>
              <a:t>    </a:t>
            </a:r>
            <a:r>
              <a:rPr lang="en-US" dirty="0" err="1"/>
              <a:t>System.out.println</a:t>
            </a:r>
            <a:r>
              <a:rPr lang="en-US" dirty="0"/>
              <a:t>("Welcome to package");  </a:t>
            </a:r>
          </a:p>
          <a:p>
            <a:pPr marL="0" indent="0">
              <a:buNone/>
            </a:pPr>
            <a:r>
              <a:rPr lang="en-US" dirty="0"/>
              <a:t>   }  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06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Defined Packages : Defining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 Compile:</a:t>
            </a:r>
            <a:r>
              <a:rPr lang="en-US" dirty="0"/>
              <a:t> </a:t>
            </a:r>
            <a:r>
              <a:rPr lang="en-US" dirty="0" err="1"/>
              <a:t>javac</a:t>
            </a:r>
            <a:r>
              <a:rPr lang="en-US" dirty="0"/>
              <a:t> -d . Simple.java</a:t>
            </a:r>
          </a:p>
          <a:p>
            <a:r>
              <a:rPr lang="en-US" b="1" dirty="0"/>
              <a:t>It will create a directory </a:t>
            </a:r>
            <a:r>
              <a:rPr lang="en-US" b="1" dirty="0" err="1"/>
              <a:t>mypack</a:t>
            </a:r>
            <a:r>
              <a:rPr lang="en-US" b="1" dirty="0"/>
              <a:t> and store </a:t>
            </a:r>
            <a:r>
              <a:rPr lang="en-US" b="1" dirty="0" err="1"/>
              <a:t>Simple.</a:t>
            </a:r>
            <a:r>
              <a:rPr lang="en-US" dirty="0" err="1"/>
              <a:t>class</a:t>
            </a:r>
            <a:r>
              <a:rPr lang="en-US" dirty="0"/>
              <a:t> file in </a:t>
            </a:r>
            <a:r>
              <a:rPr lang="en-US" dirty="0" err="1"/>
              <a:t>mypack</a:t>
            </a:r>
            <a:r>
              <a:rPr lang="en-US" dirty="0"/>
              <a:t> directory</a:t>
            </a:r>
          </a:p>
          <a:p>
            <a:r>
              <a:rPr lang="en-US" b="1" dirty="0"/>
              <a:t>To Run:</a:t>
            </a:r>
            <a:r>
              <a:rPr lang="en-US" dirty="0"/>
              <a:t> java </a:t>
            </a:r>
            <a:r>
              <a:rPr lang="en-US" dirty="0" err="1"/>
              <a:t>mypack.Simple</a:t>
            </a:r>
            <a:endParaRPr lang="en-US" dirty="0"/>
          </a:p>
          <a:p>
            <a:r>
              <a:rPr lang="en-US" dirty="0"/>
              <a:t>The -d switch specifies the destination where to put the generated class file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you want to keep the package within the same directory, you will use. (dot) in between –d and Simple.java in the command of compilation.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082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Defined Packages : Defining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after creating Simple.java in </a:t>
            </a:r>
            <a:r>
              <a:rPr lang="en-US" dirty="0" err="1"/>
              <a:t>jdk</a:t>
            </a:r>
            <a:r>
              <a:rPr lang="en-US" dirty="0"/>
              <a:t>/bin directory use following command to run it.</a:t>
            </a:r>
          </a:p>
          <a:p>
            <a:r>
              <a:rPr lang="en-US" dirty="0"/>
              <a:t>To Compile: </a:t>
            </a:r>
            <a:r>
              <a:rPr lang="en-US" dirty="0" err="1"/>
              <a:t>javac</a:t>
            </a:r>
            <a:r>
              <a:rPr lang="en-US" dirty="0"/>
              <a:t> -d . Simple.java</a:t>
            </a:r>
          </a:p>
          <a:p>
            <a:r>
              <a:rPr lang="en-US" dirty="0"/>
              <a:t>To Run: java </a:t>
            </a:r>
            <a:r>
              <a:rPr lang="en-US" dirty="0" err="1"/>
              <a:t>mypack.Simple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21000"/>
            <a:ext cx="5915025" cy="3390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2865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import classes from one package to another package to use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import </a:t>
            </a:r>
            <a:r>
              <a:rPr lang="en-US" dirty="0" err="1"/>
              <a:t>package.classname</a:t>
            </a:r>
            <a:r>
              <a:rPr lang="en-US" dirty="0"/>
              <a:t>; // to import a single class from a package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or </a:t>
            </a:r>
            <a:r>
              <a:rPr lang="en-US" dirty="0" smtClean="0"/>
              <a:t>import </a:t>
            </a:r>
            <a:r>
              <a:rPr lang="en-US" dirty="0"/>
              <a:t>package.*; // to import all classes from that package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5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Example </a:t>
            </a:r>
          </a:p>
          <a:p>
            <a:pPr marL="0" indent="0">
              <a:buNone/>
            </a:pPr>
            <a:r>
              <a:rPr lang="en-US" dirty="0"/>
              <a:t>Let we have </a:t>
            </a:r>
            <a:r>
              <a:rPr lang="en-US" dirty="0" smtClean="0"/>
              <a:t>a </a:t>
            </a:r>
            <a:r>
              <a:rPr lang="en-US" dirty="0"/>
              <a:t>class A in package </a:t>
            </a:r>
            <a:r>
              <a:rPr lang="en-US" b="1" dirty="0" smtClean="0"/>
              <a:t>pack</a:t>
            </a:r>
          </a:p>
          <a:p>
            <a:pPr marL="0" indent="0">
              <a:buNone/>
            </a:pPr>
            <a:r>
              <a:rPr lang="en-US" b="1" dirty="0" smtClean="0"/>
              <a:t>      package pack;  </a:t>
            </a:r>
          </a:p>
          <a:p>
            <a:pPr marL="457200" lvl="1" indent="0">
              <a:buNone/>
            </a:pPr>
            <a:r>
              <a:rPr lang="en-US" sz="2800" b="1" dirty="0" smtClean="0"/>
              <a:t>public class A</a:t>
            </a:r>
          </a:p>
          <a:p>
            <a:pPr marL="457200" lvl="1" indent="0">
              <a:buNone/>
            </a:pPr>
            <a:r>
              <a:rPr lang="en-US" sz="2800" b="1" dirty="0" smtClean="0"/>
              <a:t>{  </a:t>
            </a:r>
          </a:p>
          <a:p>
            <a:pPr marL="457200" lvl="1" indent="0">
              <a:buNone/>
            </a:pPr>
            <a:r>
              <a:rPr lang="en-US" sz="2800" b="1" dirty="0" smtClean="0"/>
              <a:t> 	public void </a:t>
            </a:r>
            <a:r>
              <a:rPr lang="en-US" sz="2800" b="1" dirty="0" err="1" smtClean="0"/>
              <a:t>msg</a:t>
            </a:r>
            <a:r>
              <a:rPr lang="en-US" sz="2800" b="1" dirty="0" smtClean="0"/>
              <a:t>()</a:t>
            </a:r>
          </a:p>
          <a:p>
            <a:pPr marL="457200" lvl="1" indent="0">
              <a:buNone/>
            </a:pPr>
            <a:r>
              <a:rPr lang="en-US" sz="2800" b="1" dirty="0" smtClean="0"/>
              <a:t>	{</a:t>
            </a:r>
          </a:p>
          <a:p>
            <a:pPr marL="457200" lvl="1" indent="0">
              <a:buNone/>
            </a:pPr>
            <a:r>
              <a:rPr lang="en-US" sz="2800" b="1" dirty="0" smtClean="0"/>
              <a:t>		</a:t>
            </a:r>
            <a:r>
              <a:rPr lang="en-US" sz="2800" b="1" dirty="0" err="1" smtClean="0"/>
              <a:t>System.out.println</a:t>
            </a:r>
            <a:r>
              <a:rPr lang="en-US" sz="2800" b="1" dirty="0" smtClean="0"/>
              <a:t>("Hello");</a:t>
            </a:r>
          </a:p>
          <a:p>
            <a:pPr marL="457200" lvl="1" indent="0">
              <a:buNone/>
            </a:pPr>
            <a:r>
              <a:rPr lang="en-US" sz="2800" b="1" dirty="0" smtClean="0"/>
              <a:t>	}  </a:t>
            </a:r>
          </a:p>
          <a:p>
            <a:pPr marL="457200" lvl="1" indent="0">
              <a:buNone/>
            </a:pPr>
            <a:r>
              <a:rPr lang="en-US" sz="2800" b="1" dirty="0" smtClean="0"/>
              <a:t>}</a:t>
            </a:r>
          </a:p>
          <a:p>
            <a:pPr marL="0" indent="0">
              <a:buNone/>
            </a:pPr>
            <a:r>
              <a:rPr lang="en-US" b="1" dirty="0"/>
              <a:t> 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2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To </a:t>
            </a:r>
            <a:r>
              <a:rPr lang="en-US" b="1" dirty="0"/>
              <a:t>Compile</a:t>
            </a:r>
            <a:r>
              <a:rPr lang="en-US" dirty="0"/>
              <a:t> : </a:t>
            </a:r>
            <a:r>
              <a:rPr lang="en-US" dirty="0" err="1"/>
              <a:t>javac</a:t>
            </a:r>
            <a:r>
              <a:rPr lang="en-US" dirty="0"/>
              <a:t> –d . A.java</a:t>
            </a:r>
          </a:p>
          <a:p>
            <a:r>
              <a:rPr lang="en-US" dirty="0"/>
              <a:t>It will create a folder/package with name pack and store </a:t>
            </a:r>
            <a:r>
              <a:rPr lang="en-US" dirty="0" err="1"/>
              <a:t>A.class</a:t>
            </a:r>
            <a:r>
              <a:rPr lang="en-US" dirty="0"/>
              <a:t> file in that folder</a:t>
            </a:r>
          </a:p>
          <a:p>
            <a:r>
              <a:rPr lang="en-US" dirty="0" smtClean="0"/>
              <a:t>OR</a:t>
            </a:r>
          </a:p>
          <a:p>
            <a:r>
              <a:rPr lang="en-US" b="1" dirty="0"/>
              <a:t>To Compile</a:t>
            </a:r>
            <a:r>
              <a:rPr lang="en-US" dirty="0"/>
              <a:t> : </a:t>
            </a:r>
            <a:r>
              <a:rPr lang="en-US" dirty="0" err="1"/>
              <a:t>javac</a:t>
            </a:r>
            <a:r>
              <a:rPr lang="en-US" dirty="0"/>
              <a:t>  </a:t>
            </a:r>
            <a:r>
              <a:rPr lang="en-US" dirty="0" smtClean="0"/>
              <a:t>A.java</a:t>
            </a:r>
            <a:endParaRPr lang="en-US" dirty="0"/>
          </a:p>
          <a:p>
            <a:r>
              <a:rPr lang="en-US" dirty="0" smtClean="0"/>
              <a:t>Create a folder with name ‘pack’ in ‘BIN’ folder </a:t>
            </a:r>
          </a:p>
          <a:p>
            <a:r>
              <a:rPr lang="en-US" dirty="0" smtClean="0"/>
              <a:t>Copy the </a:t>
            </a:r>
            <a:r>
              <a:rPr lang="en-US" dirty="0" err="1" smtClean="0"/>
              <a:t>A.class</a:t>
            </a:r>
            <a:r>
              <a:rPr lang="en-US" dirty="0" smtClean="0"/>
              <a:t> file from BIN to BIN\pack\  folder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44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00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// </a:t>
            </a:r>
            <a:r>
              <a:rPr lang="en-US" dirty="0"/>
              <a:t>Importing class from a package</a:t>
            </a:r>
          </a:p>
          <a:p>
            <a:pPr marL="0" indent="0">
              <a:buNone/>
            </a:pPr>
            <a:r>
              <a:rPr lang="en-US" dirty="0"/>
              <a:t>//save by B.java  </a:t>
            </a:r>
          </a:p>
          <a:p>
            <a:pPr marL="457200" lvl="1" indent="0">
              <a:buNone/>
            </a:pPr>
            <a:r>
              <a:rPr lang="en-US" sz="2800" b="1" dirty="0" smtClean="0"/>
              <a:t>import</a:t>
            </a:r>
            <a:r>
              <a:rPr lang="en-US" sz="2800" b="1" dirty="0"/>
              <a:t> pack.*;  </a:t>
            </a:r>
          </a:p>
          <a:p>
            <a:pPr marL="457200" lvl="1" indent="0">
              <a:buNone/>
            </a:pPr>
            <a:r>
              <a:rPr lang="en-US" sz="2800" b="1" dirty="0"/>
              <a:t>  </a:t>
            </a:r>
            <a:r>
              <a:rPr lang="en-US" sz="2800" b="1" dirty="0" smtClean="0"/>
              <a:t>class</a:t>
            </a:r>
            <a:r>
              <a:rPr lang="en-US" sz="2800" b="1" dirty="0"/>
              <a:t> B{  </a:t>
            </a:r>
          </a:p>
          <a:p>
            <a:pPr marL="457200" lvl="1" indent="0">
              <a:buNone/>
            </a:pPr>
            <a:r>
              <a:rPr lang="en-US" sz="2800" b="1" dirty="0"/>
              <a:t>  public static void main(String </a:t>
            </a:r>
            <a:r>
              <a:rPr lang="en-US" sz="2800" b="1" dirty="0" err="1"/>
              <a:t>args</a:t>
            </a:r>
            <a:r>
              <a:rPr lang="en-US" sz="2800" b="1" dirty="0" smtClean="0"/>
              <a:t>[])</a:t>
            </a:r>
          </a:p>
          <a:p>
            <a:pPr marL="457200" lvl="1" indent="0">
              <a:buNone/>
            </a:pPr>
            <a:r>
              <a:rPr lang="en-US" sz="2800" b="1" dirty="0" smtClean="0"/>
              <a:t> {</a:t>
            </a:r>
            <a:r>
              <a:rPr lang="en-US" sz="2800" b="1" dirty="0"/>
              <a:t>  </a:t>
            </a:r>
          </a:p>
          <a:p>
            <a:pPr marL="457200" lvl="1" indent="0">
              <a:buNone/>
            </a:pPr>
            <a:r>
              <a:rPr lang="en-US" sz="2800" b="1" dirty="0"/>
              <a:t> </a:t>
            </a:r>
            <a:r>
              <a:rPr lang="en-US" sz="2800" b="1" dirty="0" smtClean="0"/>
              <a:t>	</a:t>
            </a:r>
            <a:r>
              <a:rPr lang="en-US" sz="2800" b="1" dirty="0"/>
              <a:t>  A </a:t>
            </a:r>
            <a:r>
              <a:rPr lang="en-US" sz="2800" b="1" dirty="0" err="1"/>
              <a:t>obj</a:t>
            </a:r>
            <a:r>
              <a:rPr lang="en-US" sz="2800" b="1" dirty="0"/>
              <a:t> = new A();  </a:t>
            </a:r>
          </a:p>
          <a:p>
            <a:pPr marL="457200" lvl="1" indent="0">
              <a:buNone/>
            </a:pPr>
            <a:r>
              <a:rPr lang="en-US" sz="2800" b="1" dirty="0" smtClean="0"/>
              <a:t>	</a:t>
            </a:r>
            <a:r>
              <a:rPr lang="en-US" sz="2800" b="1" dirty="0"/>
              <a:t>   obj.msg();  </a:t>
            </a:r>
          </a:p>
          <a:p>
            <a:pPr marL="457200" lvl="1" indent="0">
              <a:buNone/>
            </a:pPr>
            <a:r>
              <a:rPr lang="en-US" sz="2800" b="1" dirty="0"/>
              <a:t>  }  </a:t>
            </a:r>
          </a:p>
          <a:p>
            <a:pPr marL="457200" lvl="1" indent="0">
              <a:buNone/>
            </a:pPr>
            <a:r>
              <a:rPr lang="en-US" sz="2800" b="1" dirty="0"/>
              <a:t>}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1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Importing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 Compile</a:t>
            </a:r>
            <a:r>
              <a:rPr lang="en-US" dirty="0"/>
              <a:t> : </a:t>
            </a:r>
            <a:r>
              <a:rPr lang="en-US" dirty="0" err="1"/>
              <a:t>javac</a:t>
            </a:r>
            <a:r>
              <a:rPr lang="en-US" dirty="0"/>
              <a:t>  B</a:t>
            </a:r>
            <a:r>
              <a:rPr lang="en-US" dirty="0" smtClean="0"/>
              <a:t>.java</a:t>
            </a:r>
            <a:endParaRPr lang="en-US" dirty="0"/>
          </a:p>
          <a:p>
            <a:r>
              <a:rPr lang="en-US" b="1" dirty="0" smtClean="0"/>
              <a:t>To </a:t>
            </a:r>
            <a:r>
              <a:rPr lang="en-US" b="1" dirty="0"/>
              <a:t>Run :</a:t>
            </a:r>
            <a:r>
              <a:rPr lang="en-US" dirty="0"/>
              <a:t> java </a:t>
            </a:r>
            <a:r>
              <a:rPr lang="en-US" dirty="0" smtClean="0"/>
              <a:t>B</a:t>
            </a:r>
            <a:endParaRPr lang="en-US" dirty="0"/>
          </a:p>
          <a:p>
            <a:r>
              <a:rPr lang="en-US" dirty="0"/>
              <a:t>Output:</a:t>
            </a:r>
          </a:p>
          <a:p>
            <a:r>
              <a:rPr lang="en-US" dirty="0"/>
              <a:t>Hello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396" y="2855549"/>
            <a:ext cx="5695404" cy="37850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3392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Interfaces in Java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 </a:t>
            </a:r>
            <a:r>
              <a:rPr lang="en-US" b="1" dirty="0"/>
              <a:t>interface in Java</a:t>
            </a:r>
            <a:r>
              <a:rPr lang="en-US" dirty="0"/>
              <a:t> is a blueprint of a class. It has static constants and abstract methods.</a:t>
            </a:r>
          </a:p>
          <a:p>
            <a:pPr algn="just"/>
            <a:r>
              <a:rPr lang="en-US" dirty="0"/>
              <a:t>The interface in Java is </a:t>
            </a:r>
            <a:r>
              <a:rPr lang="en-US" i="1" dirty="0"/>
              <a:t>a mechanism to achieve </a:t>
            </a:r>
            <a:r>
              <a:rPr lang="en-US" i="1" dirty="0">
                <a:hlinkClick r:id="rId2"/>
              </a:rPr>
              <a:t>abstraction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There </a:t>
            </a:r>
            <a:r>
              <a:rPr lang="en-US" dirty="0"/>
              <a:t>can be only abstract methods in the Java interface, not method body.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used to achieve abstraction and multiple </a:t>
            </a:r>
            <a:r>
              <a:rPr lang="en-US" dirty="0">
                <a:hlinkClick r:id="rId3"/>
              </a:rPr>
              <a:t>inheritance in Java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It cannot be instantiated just like the abstract class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4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Interfaces in Java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to declare an interface?</a:t>
            </a:r>
          </a:p>
          <a:p>
            <a:r>
              <a:rPr lang="en-US" dirty="0"/>
              <a:t>An interface is declared by using the interface keyword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provides total abstraction; means all the methods in an interface are declared with the empty body, and all the fields are public, static and final by default</a:t>
            </a:r>
            <a:r>
              <a:rPr lang="en-US" dirty="0" smtClean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class that implements an interface must implement all the methods declared in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391181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in Java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8998"/>
            <a:ext cx="10515600" cy="53290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Syntax: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interface &lt;</a:t>
            </a:r>
            <a:r>
              <a:rPr lang="en-US" dirty="0" err="1"/>
              <a:t>interface_name</a:t>
            </a:r>
            <a:r>
              <a:rPr lang="en-US" dirty="0" smtClean="0"/>
              <a:t>&gt;</a:t>
            </a:r>
          </a:p>
          <a:p>
            <a:pPr marL="0" indent="0">
              <a:buNone/>
            </a:pPr>
            <a:r>
              <a:rPr lang="en-US" dirty="0" smtClean="0"/>
              <a:t>{</a:t>
            </a:r>
            <a:r>
              <a:rPr lang="en-US" dirty="0"/>
              <a:t>       </a:t>
            </a:r>
          </a:p>
          <a:p>
            <a:pPr marL="0" indent="0">
              <a:buNone/>
            </a:pPr>
            <a:r>
              <a:rPr lang="en-US" dirty="0"/>
              <a:t>    // declare constant fields  </a:t>
            </a:r>
          </a:p>
          <a:p>
            <a:pPr marL="0" indent="0">
              <a:buNone/>
            </a:pPr>
            <a:r>
              <a:rPr lang="en-US" dirty="0"/>
              <a:t>    // declare methods that </a:t>
            </a:r>
            <a:r>
              <a:rPr lang="en-US" dirty="0" smtClean="0"/>
              <a:t>are abstract</a:t>
            </a:r>
            <a:r>
              <a:rPr lang="en-US" dirty="0"/>
              <a:t> by default.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b="1" dirty="0" smtClean="0"/>
              <a:t>Example</a:t>
            </a: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interface printable</a:t>
            </a:r>
          </a:p>
          <a:p>
            <a:pPr marL="0" indent="0">
              <a:buNone/>
            </a:pP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dirty="0"/>
              <a:t>void print();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77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in Java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Internal addition by the compiler</a:t>
            </a:r>
          </a:p>
          <a:p>
            <a:r>
              <a:rPr lang="en-US" dirty="0"/>
              <a:t>The Java compiler adds public and abstract keywords before the interface method. </a:t>
            </a:r>
            <a:endParaRPr lang="en-US" dirty="0" smtClean="0"/>
          </a:p>
          <a:p>
            <a:r>
              <a:rPr lang="en-US" dirty="0" smtClean="0"/>
              <a:t>Moreover</a:t>
            </a:r>
            <a:r>
              <a:rPr lang="en-US" dirty="0"/>
              <a:t>, it adds public, static and final keywords before data members.</a:t>
            </a:r>
          </a:p>
          <a:p>
            <a:r>
              <a:rPr lang="en-US" dirty="0"/>
              <a:t>In other words, Interface fields are public, static and final by default, and the methods are public and abstract.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5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Internal addition by the compiler</a:t>
            </a: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813" y="2548328"/>
            <a:ext cx="11907187" cy="29230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751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 in Java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44069" cy="4351338"/>
          </a:xfrm>
        </p:spPr>
        <p:txBody>
          <a:bodyPr/>
          <a:lstStyle/>
          <a:p>
            <a:r>
              <a:rPr lang="en-US" b="1" i="1" dirty="0" smtClean="0"/>
              <a:t>The relationship between classes and interfaces</a:t>
            </a:r>
          </a:p>
          <a:p>
            <a:r>
              <a:rPr lang="en-US" dirty="0" smtClean="0"/>
              <a:t>As </a:t>
            </a:r>
            <a:r>
              <a:rPr lang="en-US" dirty="0"/>
              <a:t>shown in the figure given below, a class extends another class, an interface extends another interface, but a </a:t>
            </a:r>
            <a:r>
              <a:rPr lang="en-US" b="1" dirty="0"/>
              <a:t>class implements an interface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6477" y="3460931"/>
            <a:ext cx="7461589" cy="30148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482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// Java Interface 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interface printable</a:t>
            </a:r>
          </a:p>
          <a:p>
            <a:r>
              <a:rPr lang="en-US" dirty="0"/>
              <a:t>{  </a:t>
            </a:r>
          </a:p>
          <a:p>
            <a:r>
              <a:rPr lang="en-US" dirty="0"/>
              <a:t>	void print();  </a:t>
            </a:r>
          </a:p>
          <a:p>
            <a:r>
              <a:rPr lang="en-US" dirty="0"/>
              <a:t>}  </a:t>
            </a:r>
          </a:p>
          <a:p>
            <a:r>
              <a:rPr lang="en-US" dirty="0"/>
              <a:t>class A6 implements printable</a:t>
            </a:r>
          </a:p>
          <a:p>
            <a:r>
              <a:rPr lang="en-US" dirty="0"/>
              <a:t>{  </a:t>
            </a:r>
          </a:p>
          <a:p>
            <a:r>
              <a:rPr lang="en-US" dirty="0"/>
              <a:t>	public void print()</a:t>
            </a:r>
          </a:p>
          <a:p>
            <a:r>
              <a:rPr lang="en-US" dirty="0"/>
              <a:t>	{</a:t>
            </a:r>
          </a:p>
          <a:p>
            <a:r>
              <a:rPr lang="en-US" dirty="0"/>
              <a:t>		</a:t>
            </a:r>
            <a:r>
              <a:rPr lang="en-US" dirty="0" err="1"/>
              <a:t>System.out.println</a:t>
            </a:r>
            <a:r>
              <a:rPr lang="en-US" dirty="0"/>
              <a:t>("Hello");</a:t>
            </a:r>
          </a:p>
          <a:p>
            <a:r>
              <a:rPr lang="en-US" dirty="0"/>
              <a:t>	}  </a:t>
            </a:r>
          </a:p>
          <a:p>
            <a:r>
              <a:rPr lang="en-US" dirty="0"/>
              <a:t>  	public static void main(String </a:t>
            </a:r>
            <a:r>
              <a:rPr lang="en-US" dirty="0" err="1"/>
              <a:t>args</a:t>
            </a:r>
            <a:r>
              <a:rPr lang="en-US" dirty="0"/>
              <a:t>[])</a:t>
            </a:r>
          </a:p>
          <a:p>
            <a:r>
              <a:rPr lang="en-US" dirty="0"/>
              <a:t>	{  </a:t>
            </a:r>
          </a:p>
          <a:p>
            <a:r>
              <a:rPr lang="en-US" dirty="0"/>
              <a:t>		A6 </a:t>
            </a:r>
            <a:r>
              <a:rPr lang="en-US" dirty="0" err="1"/>
              <a:t>obj</a:t>
            </a:r>
            <a:r>
              <a:rPr lang="en-US" dirty="0"/>
              <a:t> = new A6();  </a:t>
            </a:r>
          </a:p>
          <a:p>
            <a:r>
              <a:rPr lang="en-US" dirty="0"/>
              <a:t>		</a:t>
            </a:r>
            <a:r>
              <a:rPr lang="en-US" dirty="0" err="1"/>
              <a:t>obj.print</a:t>
            </a:r>
            <a:r>
              <a:rPr lang="en-US" dirty="0"/>
              <a:t>();  </a:t>
            </a:r>
          </a:p>
          <a:p>
            <a:r>
              <a:rPr lang="en-US" dirty="0"/>
              <a:t>	 }  </a:t>
            </a:r>
          </a:p>
          <a:p>
            <a:r>
              <a:rPr lang="en-US" dirty="0"/>
              <a:t>}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17" y="115627"/>
            <a:ext cx="5228522" cy="674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55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17" y="115627"/>
            <a:ext cx="5228522" cy="67483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941" y="1465991"/>
            <a:ext cx="4836450" cy="324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08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Notes on Interfaces: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Like abstract classes, interfaces cannot be used to create </a:t>
            </a:r>
            <a:r>
              <a:rPr lang="en-US" dirty="0" smtClean="0"/>
              <a:t>objects</a:t>
            </a:r>
            <a:endParaRPr lang="en-US" dirty="0"/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Interface methods do not have a body - the body is provided by the "implement" class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On implementation of an interface, you must override all of its methods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Interface methods are by default </a:t>
            </a:r>
            <a:r>
              <a:rPr lang="en-US" b="1" dirty="0"/>
              <a:t>abstract and public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Interface attributes are by </a:t>
            </a:r>
            <a:r>
              <a:rPr lang="en-US" b="1" dirty="0"/>
              <a:t>default public, static and final</a:t>
            </a:r>
          </a:p>
          <a:p>
            <a:pPr marL="514350" lvl="0" indent="-514350" algn="just">
              <a:buFont typeface="+mj-lt"/>
              <a:buAutoNum type="arabicPeriod"/>
            </a:pPr>
            <a:r>
              <a:rPr lang="en-US" dirty="0"/>
              <a:t>An interface cannot contain a </a:t>
            </a:r>
            <a:r>
              <a:rPr lang="en-US" dirty="0" smtClean="0"/>
              <a:t>constructor</a:t>
            </a:r>
            <a:endParaRPr lang="en-US" dirty="0"/>
          </a:p>
          <a:p>
            <a:pPr marL="514350" indent="-514350" algn="just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614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And When To Use Interfaces?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1) To achieve security</a:t>
            </a:r>
            <a:r>
              <a:rPr lang="en-US" dirty="0"/>
              <a:t> </a:t>
            </a:r>
            <a:r>
              <a:rPr lang="en-US" dirty="0" smtClean="0"/>
              <a:t>– </a:t>
            </a:r>
          </a:p>
          <a:p>
            <a:pPr lvl="1" algn="just"/>
            <a:r>
              <a:rPr lang="en-US" sz="2800" dirty="0"/>
              <a:t>H</a:t>
            </a:r>
            <a:r>
              <a:rPr lang="en-US" sz="2800" dirty="0" smtClean="0"/>
              <a:t>ide </a:t>
            </a:r>
            <a:r>
              <a:rPr lang="en-US" sz="2800" dirty="0"/>
              <a:t>certain details and only show the important details of an object (interface).</a:t>
            </a:r>
          </a:p>
          <a:p>
            <a:pPr algn="just"/>
            <a:r>
              <a:rPr lang="en-US" b="1" dirty="0"/>
              <a:t>2) To Achieve Multiple Inheritance </a:t>
            </a:r>
            <a:r>
              <a:rPr lang="en-US" b="1" dirty="0" smtClean="0"/>
              <a:t>– </a:t>
            </a:r>
          </a:p>
          <a:p>
            <a:pPr lvl="1" algn="just"/>
            <a:r>
              <a:rPr lang="en-US" sz="2800" dirty="0" smtClean="0"/>
              <a:t>Java </a:t>
            </a:r>
            <a:r>
              <a:rPr lang="en-US" sz="2800" dirty="0"/>
              <a:t>does not support "multiple inheritance" (a class can only inherit from one superclass). </a:t>
            </a:r>
            <a:endParaRPr lang="en-US" sz="2800" dirty="0" smtClean="0"/>
          </a:p>
          <a:p>
            <a:pPr lvl="1" algn="just"/>
            <a:r>
              <a:rPr lang="en-US" sz="2800" dirty="0" smtClean="0"/>
              <a:t>However</a:t>
            </a:r>
            <a:r>
              <a:rPr lang="en-US" sz="2800" dirty="0"/>
              <a:t>, it can be achieved with interfaces, because the class can implement multiple interfaces. </a:t>
            </a:r>
            <a:endParaRPr lang="en-US" sz="2800" dirty="0" smtClean="0"/>
          </a:p>
          <a:p>
            <a:pPr lvl="1" algn="just"/>
            <a:r>
              <a:rPr lang="en-US" sz="2800" dirty="0" smtClean="0"/>
              <a:t>Note</a:t>
            </a:r>
            <a:r>
              <a:rPr lang="en-US" sz="2800" dirty="0"/>
              <a:t>: To implement multiple interfaces, separate them with a comma (see example below).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94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inheritance in Java by interface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If a class implements multiple interfaces, or an interface extends multiple interfaces, it is known as multiple inheritance.</a:t>
            </a:r>
          </a:p>
          <a:p>
            <a:pPr algn="just"/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251" y="2881391"/>
            <a:ext cx="9527498" cy="3535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9295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99" y="148262"/>
            <a:ext cx="5790967" cy="660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99" y="148262"/>
            <a:ext cx="5790967" cy="66037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739" y="2215821"/>
            <a:ext cx="5437858" cy="246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2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Multiple inheritance using interfaces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// Multiple inheritance using interfaces</a:t>
            </a:r>
          </a:p>
          <a:p>
            <a:pPr marL="0" indent="0">
              <a:buNone/>
            </a:pPr>
            <a:r>
              <a:rPr lang="en-US" dirty="0"/>
              <a:t>package Interfaces;</a:t>
            </a:r>
          </a:p>
          <a:p>
            <a:pPr marL="0" indent="0">
              <a:buNone/>
            </a:pPr>
            <a:r>
              <a:rPr lang="en-US" dirty="0"/>
              <a:t>interface Printable{  </a:t>
            </a:r>
          </a:p>
          <a:p>
            <a:pPr marL="0" indent="0">
              <a:buNone/>
            </a:pPr>
            <a:r>
              <a:rPr lang="en-US" dirty="0"/>
              <a:t>    void print();  </a:t>
            </a:r>
          </a:p>
          <a:p>
            <a:pPr marL="0" indent="0">
              <a:buNone/>
            </a:pPr>
            <a:r>
              <a:rPr lang="en-US" dirty="0"/>
              <a:t>}  </a:t>
            </a:r>
          </a:p>
          <a:p>
            <a:pPr marL="0" indent="0">
              <a:buNone/>
            </a:pPr>
            <a:r>
              <a:rPr lang="en-US" dirty="0"/>
              <a:t>interface Showable{  </a:t>
            </a:r>
          </a:p>
          <a:p>
            <a:pPr marL="0" indent="0">
              <a:buNone/>
            </a:pPr>
            <a:r>
              <a:rPr lang="en-US" dirty="0"/>
              <a:t>    void show();  </a:t>
            </a:r>
          </a:p>
          <a:p>
            <a:pPr marL="0" indent="0">
              <a:buNone/>
            </a:pPr>
            <a:r>
              <a:rPr lang="en-US" dirty="0"/>
              <a:t>}  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PrintClass</a:t>
            </a:r>
            <a:r>
              <a:rPr lang="en-US" dirty="0"/>
              <a:t> implements </a:t>
            </a:r>
            <a:r>
              <a:rPr lang="en-US" dirty="0" err="1"/>
              <a:t>Printable,Showable</a:t>
            </a:r>
            <a:r>
              <a:rPr lang="en-US" dirty="0"/>
              <a:t> {  </a:t>
            </a:r>
          </a:p>
          <a:p>
            <a:pPr marL="0" indent="0">
              <a:buNone/>
            </a:pPr>
            <a:r>
              <a:rPr lang="en-US" dirty="0"/>
              <a:t>    public void print()</a:t>
            </a:r>
          </a:p>
          <a:p>
            <a:pPr marL="0" indent="0">
              <a:buNone/>
            </a:pPr>
            <a:r>
              <a:rPr lang="en-US" dirty="0"/>
              <a:t>    {</a:t>
            </a:r>
            <a:r>
              <a:rPr lang="en-US" dirty="0" err="1"/>
              <a:t>System.out.println</a:t>
            </a:r>
            <a:r>
              <a:rPr lang="en-US" dirty="0"/>
              <a:t>("Hello Printable");}  </a:t>
            </a:r>
          </a:p>
          <a:p>
            <a:pPr marL="0" indent="0">
              <a:buNone/>
            </a:pPr>
            <a:r>
              <a:rPr lang="en-US" dirty="0"/>
              <a:t>    public void show()</a:t>
            </a:r>
          </a:p>
          <a:p>
            <a:pPr marL="0" indent="0">
              <a:buNone/>
            </a:pPr>
            <a:r>
              <a:rPr lang="en-US" dirty="0"/>
              <a:t>    {</a:t>
            </a:r>
            <a:r>
              <a:rPr lang="en-US" dirty="0" err="1"/>
              <a:t>System.out.println</a:t>
            </a:r>
            <a:r>
              <a:rPr lang="en-US" dirty="0"/>
              <a:t>("Welcome Showable");}    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public class A7 {</a:t>
            </a:r>
          </a:p>
          <a:p>
            <a:pPr marL="0" indent="0">
              <a:buNone/>
            </a:pPr>
            <a:r>
              <a:rPr lang="en-US" dirty="0"/>
              <a:t>    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PrintClass</a:t>
            </a:r>
            <a:r>
              <a:rPr lang="en-US" dirty="0"/>
              <a:t> </a:t>
            </a:r>
            <a:r>
              <a:rPr lang="en-US" dirty="0" err="1"/>
              <a:t>obj</a:t>
            </a:r>
            <a:r>
              <a:rPr lang="en-US" dirty="0"/>
              <a:t> = new </a:t>
            </a:r>
            <a:r>
              <a:rPr lang="en-US" dirty="0" err="1"/>
              <a:t>PrintClass</a:t>
            </a:r>
            <a:r>
              <a:rPr lang="en-US" dirty="0"/>
              <a:t>();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obj.print</a:t>
            </a:r>
            <a:r>
              <a:rPr lang="en-US" dirty="0"/>
              <a:t>();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obj.show</a:t>
            </a:r>
            <a:r>
              <a:rPr lang="en-US" dirty="0"/>
              <a:t>();  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959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</a:t>
            </a:r>
            <a:r>
              <a:rPr lang="en-US" dirty="0"/>
              <a:t>inheritance using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Multiple </a:t>
            </a:r>
            <a:r>
              <a:rPr lang="en-US" dirty="0"/>
              <a:t>inheritance is not supported in the case of class because of ambiguity. </a:t>
            </a:r>
            <a:endParaRPr lang="en-US" dirty="0" smtClean="0"/>
          </a:p>
          <a:p>
            <a:r>
              <a:rPr lang="en-US" dirty="0" smtClean="0"/>
              <a:t>However</a:t>
            </a:r>
            <a:r>
              <a:rPr lang="en-US" dirty="0"/>
              <a:t>, it is supported in case of an interface because there is no ambiguity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is because </a:t>
            </a:r>
            <a:r>
              <a:rPr lang="en-US" dirty="0" smtClean="0"/>
              <a:t>implementation of methods of the interface is </a:t>
            </a:r>
            <a:r>
              <a:rPr lang="en-US" dirty="0"/>
              <a:t>provided by the implementation class. </a:t>
            </a:r>
          </a:p>
        </p:txBody>
      </p:sp>
    </p:spTree>
    <p:extLst>
      <p:ext uri="{BB962C8B-B14F-4D97-AF65-F5344CB8AC3E}">
        <p14:creationId xmlns:p14="http://schemas.microsoft.com/office/powerpoint/2010/main" val="319746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916548"/>
              </p:ext>
            </p:extLst>
          </p:nvPr>
        </p:nvGraphicFramePr>
        <p:xfrm>
          <a:off x="478436" y="311833"/>
          <a:ext cx="11183912" cy="62643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45910">
                  <a:extLst>
                    <a:ext uri="{9D8B030D-6E8A-4147-A177-3AD203B41FA5}">
                      <a16:colId xmlns:a16="http://schemas.microsoft.com/office/drawing/2014/main" xmlns="" val="4005752417"/>
                    </a:ext>
                  </a:extLst>
                </a:gridCol>
                <a:gridCol w="5838002">
                  <a:extLst>
                    <a:ext uri="{9D8B030D-6E8A-4147-A177-3AD203B41FA5}">
                      <a16:colId xmlns:a16="http://schemas.microsoft.com/office/drawing/2014/main" xmlns="" val="2949032701"/>
                    </a:ext>
                  </a:extLst>
                </a:gridCol>
              </a:tblGrid>
              <a:tr h="10890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</a:rPr>
                        <a:t>Abstract class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</a:rPr>
                        <a:t>Interface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xmlns="" val="2761763362"/>
                  </a:ext>
                </a:extLst>
              </a:tr>
              <a:tr h="140219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</a:rPr>
                        <a:t>1) Abstract class can have abstract and non-abstract methods.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</a:rPr>
                        <a:t>Interface can have only abstract methods. Since Java 8, it can have default and static methods also.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2184524577"/>
                  </a:ext>
                </a:extLst>
              </a:tr>
              <a:tr h="88943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</a:rPr>
                        <a:t>2) Abstract class doesn't support multiple inheritance.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</a:rPr>
                        <a:t>Interface supports multiple inheritance.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1580864485"/>
                  </a:ext>
                </a:extLst>
              </a:tr>
              <a:tr h="88943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</a:rPr>
                        <a:t>3) Abstract class can have final, non-final, static and non-static variables.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effectLst/>
                        </a:rPr>
                        <a:t>Interface has only static and final variables.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1110816627"/>
                  </a:ext>
                </a:extLst>
              </a:tr>
              <a:tr h="88943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</a:rPr>
                        <a:t>4) Abstract class can provide the implementation of interface.</a:t>
                      </a:r>
                      <a:endParaRPr lang="en-IN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effectLst/>
                        </a:rPr>
                        <a:t>Interface can't provide the implementation of abstract class.</a:t>
                      </a:r>
                      <a:endParaRPr lang="en-IN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1466792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052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48732"/>
              </p:ext>
            </p:extLst>
          </p:nvPr>
        </p:nvGraphicFramePr>
        <p:xfrm>
          <a:off x="358515" y="236883"/>
          <a:ext cx="11243872" cy="60889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74571">
                  <a:extLst>
                    <a:ext uri="{9D8B030D-6E8A-4147-A177-3AD203B41FA5}">
                      <a16:colId xmlns:a16="http://schemas.microsoft.com/office/drawing/2014/main" xmlns="" val="3967430059"/>
                    </a:ext>
                  </a:extLst>
                </a:gridCol>
                <a:gridCol w="5869301">
                  <a:extLst>
                    <a:ext uri="{9D8B030D-6E8A-4147-A177-3AD203B41FA5}">
                      <a16:colId xmlns:a16="http://schemas.microsoft.com/office/drawing/2014/main" xmlns="" val="815000358"/>
                    </a:ext>
                  </a:extLst>
                </a:gridCol>
              </a:tblGrid>
              <a:tr h="12852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Abstract class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Interface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114300" marB="114300"/>
                </a:tc>
                <a:extLst>
                  <a:ext uri="{0D108BD9-81ED-4DB2-BD59-A6C34878D82A}">
                    <a16:rowId xmlns:a16="http://schemas.microsoft.com/office/drawing/2014/main" xmlns="" val="120449772"/>
                  </a:ext>
                </a:extLst>
              </a:tr>
              <a:tr h="104964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</a:rPr>
                        <a:t>5) The abstract keyword is used to declare abstract class.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</a:rPr>
                        <a:t>The interface keyword is used to declare interface.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2709782911"/>
                  </a:ext>
                </a:extLst>
              </a:tr>
              <a:tr h="165477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</a:rPr>
                        <a:t>6) An abstract class can extend another Java class and implement multiple Java interfaces.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</a:rPr>
                        <a:t>An interface can extend another Java interface only.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221055574"/>
                  </a:ext>
                </a:extLst>
              </a:tr>
              <a:tr h="104964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</a:rPr>
                        <a:t>7) An abstract class can be extended using keyword "extends".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</a:rPr>
                        <a:t>An interface can be implemented using keyword "implements".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4024551235"/>
                  </a:ext>
                </a:extLst>
              </a:tr>
              <a:tr h="104964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>
                          <a:effectLst/>
                        </a:rPr>
                        <a:t>8) A Java abstract class can have class members like private, protected, etc.</a:t>
                      </a:r>
                      <a:endParaRPr lang="en-IN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400" dirty="0">
                          <a:effectLst/>
                        </a:rPr>
                        <a:t>Members of a Java interface are public by default.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xmlns="" val="3587853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711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 8 Interface Improvement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 </a:t>
            </a:r>
            <a:r>
              <a:rPr lang="en-US" u="sng" dirty="0">
                <a:hlinkClick r:id="rId2"/>
              </a:rPr>
              <a:t>Java 8</a:t>
            </a:r>
            <a:r>
              <a:rPr lang="en-US" dirty="0"/>
              <a:t>, interface can have default and static </a:t>
            </a:r>
            <a:r>
              <a:rPr lang="en-US" dirty="0" smtClean="0"/>
              <a:t>methods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553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 8 Interface Improvement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Since </a:t>
            </a:r>
            <a:r>
              <a:rPr lang="en-US" dirty="0"/>
              <a:t>Java 8, we can have method body in interface. </a:t>
            </a:r>
            <a:endParaRPr lang="en-US" dirty="0" smtClean="0"/>
          </a:p>
          <a:p>
            <a:r>
              <a:rPr lang="en-US" dirty="0" smtClean="0"/>
              <a:t>But </a:t>
            </a:r>
            <a:r>
              <a:rPr lang="en-US" dirty="0"/>
              <a:t>we need to make it default method. </a:t>
            </a:r>
            <a:endParaRPr lang="en-US" dirty="0" smtClean="0"/>
          </a:p>
          <a:p>
            <a:r>
              <a:rPr lang="en-US" dirty="0" err="1" smtClean="0"/>
              <a:t>Eg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Drawable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  </a:t>
            </a:r>
          </a:p>
          <a:p>
            <a:pPr marL="0" indent="0">
              <a:buNone/>
            </a:pPr>
            <a:r>
              <a:rPr lang="en-US" dirty="0"/>
              <a:t>    void draw();  </a:t>
            </a:r>
          </a:p>
          <a:p>
            <a:pPr marL="0" indent="0">
              <a:buNone/>
            </a:pPr>
            <a:r>
              <a:rPr lang="en-US" b="1" dirty="0"/>
              <a:t>    default void </a:t>
            </a:r>
            <a:r>
              <a:rPr lang="en-US" b="1" dirty="0" err="1"/>
              <a:t>msg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/>
              <a:t>    {</a:t>
            </a:r>
            <a:r>
              <a:rPr lang="en-US" b="1" dirty="0" err="1"/>
              <a:t>System.out.println</a:t>
            </a:r>
            <a:r>
              <a:rPr lang="en-US" b="1" dirty="0"/>
              <a:t>("default method");} 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33959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77" y="229772"/>
            <a:ext cx="5768560" cy="630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0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77" y="229772"/>
            <a:ext cx="5768560" cy="63086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012" y="1618235"/>
            <a:ext cx="5354192" cy="284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17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Multiple inheritance using interfaces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// Multiple inheritance using interfaces</a:t>
            </a:r>
          </a:p>
          <a:p>
            <a:pPr marL="0" indent="0">
              <a:buNone/>
            </a:pPr>
            <a:r>
              <a:rPr lang="en-US" dirty="0"/>
              <a:t>package Interfaces;</a:t>
            </a:r>
          </a:p>
          <a:p>
            <a:pPr marL="0" indent="0">
              <a:buNone/>
            </a:pPr>
            <a:r>
              <a:rPr lang="en-US" dirty="0"/>
              <a:t>interface Printable{  </a:t>
            </a:r>
          </a:p>
          <a:p>
            <a:pPr marL="0" indent="0">
              <a:buNone/>
            </a:pPr>
            <a:r>
              <a:rPr lang="en-US" dirty="0"/>
              <a:t>    void print();  </a:t>
            </a:r>
          </a:p>
          <a:p>
            <a:pPr marL="0" indent="0">
              <a:buNone/>
            </a:pPr>
            <a:r>
              <a:rPr lang="en-US" dirty="0"/>
              <a:t>}  </a:t>
            </a:r>
          </a:p>
          <a:p>
            <a:pPr marL="0" indent="0">
              <a:buNone/>
            </a:pPr>
            <a:r>
              <a:rPr lang="en-US" dirty="0"/>
              <a:t>interface Showable{  </a:t>
            </a:r>
          </a:p>
          <a:p>
            <a:pPr marL="0" indent="0">
              <a:buNone/>
            </a:pPr>
            <a:r>
              <a:rPr lang="en-US" dirty="0"/>
              <a:t>    void show();  </a:t>
            </a:r>
          </a:p>
          <a:p>
            <a:pPr marL="0" indent="0">
              <a:buNone/>
            </a:pPr>
            <a:r>
              <a:rPr lang="en-US" dirty="0"/>
              <a:t>}  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PrintClass</a:t>
            </a:r>
            <a:r>
              <a:rPr lang="en-US" dirty="0"/>
              <a:t> implements </a:t>
            </a:r>
            <a:r>
              <a:rPr lang="en-US" dirty="0" err="1"/>
              <a:t>Printable,Showable</a:t>
            </a:r>
            <a:r>
              <a:rPr lang="en-US" dirty="0"/>
              <a:t> {  </a:t>
            </a:r>
          </a:p>
          <a:p>
            <a:pPr marL="0" indent="0">
              <a:buNone/>
            </a:pPr>
            <a:r>
              <a:rPr lang="en-US" dirty="0"/>
              <a:t>    public void print()</a:t>
            </a:r>
          </a:p>
          <a:p>
            <a:pPr marL="0" indent="0">
              <a:buNone/>
            </a:pPr>
            <a:r>
              <a:rPr lang="en-US" dirty="0"/>
              <a:t>    {</a:t>
            </a:r>
            <a:r>
              <a:rPr lang="en-US" dirty="0" err="1"/>
              <a:t>System.out.println</a:t>
            </a:r>
            <a:r>
              <a:rPr lang="en-US" dirty="0"/>
              <a:t>("Hello Printable");}  </a:t>
            </a:r>
          </a:p>
          <a:p>
            <a:pPr marL="0" indent="0">
              <a:buNone/>
            </a:pPr>
            <a:r>
              <a:rPr lang="en-US" dirty="0"/>
              <a:t>    public void show()</a:t>
            </a:r>
          </a:p>
          <a:p>
            <a:pPr marL="0" indent="0">
              <a:buNone/>
            </a:pPr>
            <a:r>
              <a:rPr lang="en-US" dirty="0"/>
              <a:t>    {</a:t>
            </a:r>
            <a:r>
              <a:rPr lang="en-US" dirty="0" err="1"/>
              <a:t>System.out.println</a:t>
            </a:r>
            <a:r>
              <a:rPr lang="en-US" dirty="0"/>
              <a:t>("Welcome Showable");}    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r>
              <a:rPr lang="en-US" dirty="0"/>
              <a:t>public class A7 {</a:t>
            </a:r>
          </a:p>
          <a:p>
            <a:pPr marL="0" indent="0">
              <a:buNone/>
            </a:pPr>
            <a:r>
              <a:rPr lang="en-US" dirty="0"/>
              <a:t>    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PrintClass</a:t>
            </a:r>
            <a:r>
              <a:rPr lang="en-US" dirty="0"/>
              <a:t> </a:t>
            </a:r>
            <a:r>
              <a:rPr lang="en-US" dirty="0" err="1"/>
              <a:t>obj</a:t>
            </a:r>
            <a:r>
              <a:rPr lang="en-US" dirty="0"/>
              <a:t> = new </a:t>
            </a:r>
            <a:r>
              <a:rPr lang="en-US" dirty="0" err="1"/>
              <a:t>PrintClass</a:t>
            </a:r>
            <a:r>
              <a:rPr lang="en-US" dirty="0"/>
              <a:t>();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obj.print</a:t>
            </a:r>
            <a:r>
              <a:rPr lang="en-US" dirty="0"/>
              <a:t>();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obj.show</a:t>
            </a:r>
            <a:r>
              <a:rPr lang="en-US" dirty="0"/>
              <a:t>();  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11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Java 8 Static Method in Interface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1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Since Java 8, we can have static method in interface. Let's see an example:</a:t>
            </a:r>
          </a:p>
          <a:p>
            <a:pPr marL="457200" lvl="1" indent="0">
              <a:buNone/>
            </a:pPr>
            <a:r>
              <a:rPr lang="en-US" sz="2800" dirty="0"/>
              <a:t>interface </a:t>
            </a:r>
            <a:r>
              <a:rPr lang="en-US" sz="2800" dirty="0" err="1" smtClean="0"/>
              <a:t>Drawable</a:t>
            </a:r>
            <a:endParaRPr lang="en-US" sz="2800" dirty="0" smtClean="0"/>
          </a:p>
          <a:p>
            <a:pPr marL="457200" lvl="1" indent="0">
              <a:buNone/>
            </a:pPr>
            <a:r>
              <a:rPr lang="en-US" sz="2800" dirty="0" smtClean="0"/>
              <a:t>{</a:t>
            </a:r>
            <a:r>
              <a:rPr lang="en-US" sz="2800" dirty="0"/>
              <a:t>  </a:t>
            </a:r>
          </a:p>
          <a:p>
            <a:pPr marL="457200" lvl="1" indent="0">
              <a:buNone/>
            </a:pPr>
            <a:r>
              <a:rPr lang="en-US" sz="2800" b="1" dirty="0" smtClean="0"/>
              <a:t>	</a:t>
            </a:r>
            <a:r>
              <a:rPr lang="en-US" sz="2800" dirty="0" smtClean="0"/>
              <a:t>void</a:t>
            </a:r>
            <a:r>
              <a:rPr lang="en-US" sz="2800" dirty="0"/>
              <a:t> draw();  </a:t>
            </a:r>
          </a:p>
          <a:p>
            <a:pPr marL="457200" lvl="1" indent="0">
              <a:buNone/>
            </a:pPr>
            <a:r>
              <a:rPr lang="en-US" sz="2800" b="1" dirty="0" smtClean="0"/>
              <a:t>	static</a:t>
            </a:r>
            <a:r>
              <a:rPr lang="en-US" sz="2800" b="1" dirty="0"/>
              <a:t> </a:t>
            </a:r>
            <a:r>
              <a:rPr lang="en-US" sz="2800" b="1" dirty="0" err="1"/>
              <a:t>int</a:t>
            </a:r>
            <a:r>
              <a:rPr lang="en-US" sz="2800" b="1" dirty="0"/>
              <a:t> cube(</a:t>
            </a:r>
            <a:r>
              <a:rPr lang="en-US" sz="2800" b="1" dirty="0" err="1"/>
              <a:t>int</a:t>
            </a:r>
            <a:r>
              <a:rPr lang="en-US" sz="2800" b="1" dirty="0"/>
              <a:t> x){return x*x*x;}  </a:t>
            </a:r>
          </a:p>
          <a:p>
            <a:pPr marL="457200" lvl="1" indent="0">
              <a:buNone/>
            </a:pPr>
            <a:r>
              <a:rPr lang="en-US" sz="2800" dirty="0"/>
              <a:t>}  </a:t>
            </a:r>
          </a:p>
          <a:p>
            <a:pPr marL="457200" lvl="1" indent="0">
              <a:buNone/>
            </a:pPr>
            <a:r>
              <a:rPr lang="en-US" sz="2800" dirty="0"/>
              <a:t>class Rectangle implements </a:t>
            </a:r>
            <a:r>
              <a:rPr lang="en-US" sz="2800" dirty="0" err="1" smtClean="0"/>
              <a:t>Drawable</a:t>
            </a:r>
            <a:endParaRPr lang="en-US" sz="2800" dirty="0" smtClean="0"/>
          </a:p>
          <a:p>
            <a:pPr marL="457200" lvl="1" indent="0">
              <a:buNone/>
            </a:pPr>
            <a:r>
              <a:rPr lang="en-US" sz="2800" dirty="0" smtClean="0"/>
              <a:t>{</a:t>
            </a:r>
            <a:r>
              <a:rPr lang="en-US" sz="2800" dirty="0"/>
              <a:t>  </a:t>
            </a:r>
          </a:p>
          <a:p>
            <a:pPr marL="457200" lvl="1" indent="0">
              <a:buNone/>
            </a:pPr>
            <a:r>
              <a:rPr lang="en-US" sz="2800" dirty="0" smtClean="0"/>
              <a:t>	public</a:t>
            </a:r>
            <a:r>
              <a:rPr lang="en-US" sz="2800" dirty="0"/>
              <a:t> void draw(){</a:t>
            </a:r>
            <a:r>
              <a:rPr lang="en-US" sz="2800" dirty="0" err="1"/>
              <a:t>System.out.println</a:t>
            </a:r>
            <a:r>
              <a:rPr lang="en-US" sz="2800" dirty="0"/>
              <a:t>("drawing rectangle");}  </a:t>
            </a:r>
          </a:p>
          <a:p>
            <a:pPr marL="457200" lvl="1" indent="0">
              <a:buNone/>
            </a:pPr>
            <a:r>
              <a:rPr lang="en-US" sz="2800" dirty="0"/>
              <a:t>}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25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14" y="224462"/>
            <a:ext cx="7466819" cy="649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6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14" y="224462"/>
            <a:ext cx="7466819" cy="64963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933" y="1735814"/>
            <a:ext cx="3990950" cy="307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26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// </a:t>
            </a:r>
            <a:r>
              <a:rPr lang="en-US" dirty="0" err="1"/>
              <a:t>Satic</a:t>
            </a:r>
            <a:r>
              <a:rPr lang="en-US" dirty="0"/>
              <a:t> methods in interfaces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// </a:t>
            </a:r>
            <a:r>
              <a:rPr lang="en-US" dirty="0" err="1"/>
              <a:t>Satic</a:t>
            </a:r>
            <a:r>
              <a:rPr lang="en-US" dirty="0"/>
              <a:t> methods in interfaces </a:t>
            </a:r>
          </a:p>
          <a:p>
            <a:pPr marL="0" indent="0">
              <a:buNone/>
            </a:pPr>
            <a:r>
              <a:rPr lang="en-US" dirty="0"/>
              <a:t>package Interfaces;</a:t>
            </a:r>
          </a:p>
          <a:p>
            <a:pPr marL="0" indent="0">
              <a:buNone/>
            </a:pPr>
            <a:r>
              <a:rPr lang="en-US" dirty="0"/>
              <a:t>interface </a:t>
            </a:r>
            <a:r>
              <a:rPr lang="en-US" dirty="0" err="1"/>
              <a:t>Drawable</a:t>
            </a:r>
            <a:r>
              <a:rPr lang="en-US" dirty="0"/>
              <a:t>{  </a:t>
            </a:r>
          </a:p>
          <a:p>
            <a:pPr marL="0" indent="0">
              <a:buNone/>
            </a:pPr>
            <a:r>
              <a:rPr lang="en-US" dirty="0"/>
              <a:t>void draw();  </a:t>
            </a:r>
          </a:p>
          <a:p>
            <a:pPr marL="0" indent="0">
              <a:buNone/>
            </a:pPr>
            <a:r>
              <a:rPr lang="en-US" dirty="0"/>
              <a:t>static </a:t>
            </a:r>
            <a:r>
              <a:rPr lang="en-US" dirty="0" err="1"/>
              <a:t>int</a:t>
            </a:r>
            <a:r>
              <a:rPr lang="en-US" dirty="0"/>
              <a:t> cube(</a:t>
            </a:r>
            <a:r>
              <a:rPr lang="en-US" dirty="0" err="1"/>
              <a:t>int</a:t>
            </a:r>
            <a:r>
              <a:rPr lang="en-US" dirty="0"/>
              <a:t> x){return x*x*x;}  </a:t>
            </a:r>
          </a:p>
          <a:p>
            <a:pPr marL="0" indent="0">
              <a:buNone/>
            </a:pPr>
            <a:r>
              <a:rPr lang="en-US" dirty="0"/>
              <a:t>}  </a:t>
            </a:r>
          </a:p>
          <a:p>
            <a:pPr marL="0" indent="0">
              <a:buNone/>
            </a:pPr>
            <a:r>
              <a:rPr lang="en-US" dirty="0"/>
              <a:t>class Rectangle implements </a:t>
            </a:r>
            <a:r>
              <a:rPr lang="en-US" dirty="0" err="1"/>
              <a:t>Drawable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  </a:t>
            </a:r>
          </a:p>
          <a:p>
            <a:pPr marL="0" indent="0">
              <a:buNone/>
            </a:pPr>
            <a:r>
              <a:rPr lang="en-US" dirty="0"/>
              <a:t>    public void draw(){</a:t>
            </a:r>
            <a:r>
              <a:rPr lang="en-US" dirty="0" err="1"/>
              <a:t>System.out.println</a:t>
            </a:r>
            <a:r>
              <a:rPr lang="en-US" dirty="0"/>
              <a:t>("drawing rectangle");}  </a:t>
            </a:r>
          </a:p>
          <a:p>
            <a:pPr marL="0" indent="0">
              <a:buNone/>
            </a:pPr>
            <a:r>
              <a:rPr lang="en-US" dirty="0"/>
              <a:t>}  </a:t>
            </a:r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TestInterfaceStatic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  </a:t>
            </a:r>
          </a:p>
          <a:p>
            <a:pPr marL="0" indent="0">
              <a:buNone/>
            </a:pPr>
            <a:r>
              <a:rPr lang="en-US" dirty="0"/>
              <a:t>    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Drawable</a:t>
            </a:r>
            <a:r>
              <a:rPr lang="en-US" dirty="0"/>
              <a:t> d=new Rectangle();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d.draw</a:t>
            </a:r>
            <a:r>
              <a:rPr lang="en-US" dirty="0"/>
              <a:t>();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Drawable.cube</a:t>
            </a:r>
            <a:r>
              <a:rPr lang="en-US" dirty="0"/>
              <a:t>(3)); 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35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discussed in class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00" dirty="0"/>
              <a:t>// Multiple Inheritance using interfaces </a:t>
            </a:r>
          </a:p>
          <a:p>
            <a:r>
              <a:rPr lang="en-IN" sz="200" dirty="0"/>
              <a:t>interface I1</a:t>
            </a:r>
          </a:p>
          <a:p>
            <a:r>
              <a:rPr lang="en-IN" sz="200" dirty="0"/>
              <a:t>{</a:t>
            </a:r>
          </a:p>
          <a:p>
            <a:r>
              <a:rPr lang="en-IN" sz="200" dirty="0"/>
              <a:t>    public static final </a:t>
            </a:r>
            <a:r>
              <a:rPr lang="en-IN" sz="200" dirty="0" err="1"/>
              <a:t>int</a:t>
            </a:r>
            <a:r>
              <a:rPr lang="en-IN" sz="200" dirty="0"/>
              <a:t> MIN=5;</a:t>
            </a:r>
          </a:p>
          <a:p>
            <a:r>
              <a:rPr lang="en-IN" sz="200" dirty="0"/>
              <a:t>    abstract public void  print();</a:t>
            </a:r>
          </a:p>
          <a:p>
            <a:r>
              <a:rPr lang="en-IN" sz="200" dirty="0"/>
              <a:t>}</a:t>
            </a:r>
          </a:p>
          <a:p>
            <a:r>
              <a:rPr lang="en-IN" sz="200" dirty="0"/>
              <a:t>interface I2</a:t>
            </a:r>
          </a:p>
          <a:p>
            <a:r>
              <a:rPr lang="en-IN" sz="200" dirty="0"/>
              <a:t>{</a:t>
            </a:r>
          </a:p>
          <a:p>
            <a:r>
              <a:rPr lang="en-IN" sz="200" dirty="0"/>
              <a:t>    abstract public void display();    </a:t>
            </a:r>
          </a:p>
          <a:p>
            <a:r>
              <a:rPr lang="en-IN" sz="200" dirty="0"/>
              <a:t>}</a:t>
            </a:r>
          </a:p>
          <a:p>
            <a:r>
              <a:rPr lang="en-IN" sz="200" dirty="0"/>
              <a:t>class C1 implements I1,I2</a:t>
            </a:r>
          </a:p>
          <a:p>
            <a:r>
              <a:rPr lang="en-IN" sz="200" dirty="0"/>
              <a:t>{</a:t>
            </a:r>
          </a:p>
          <a:p>
            <a:r>
              <a:rPr lang="en-IN" sz="200" dirty="0"/>
              <a:t>    public void print()</a:t>
            </a:r>
          </a:p>
          <a:p>
            <a:r>
              <a:rPr lang="en-IN" sz="200" dirty="0"/>
              <a:t>    {</a:t>
            </a:r>
          </a:p>
          <a:p>
            <a:r>
              <a:rPr lang="en-IN" sz="200" dirty="0"/>
              <a:t>        </a:t>
            </a:r>
            <a:r>
              <a:rPr lang="en-IN" sz="200" dirty="0" err="1"/>
              <a:t>System.out.print</a:t>
            </a:r>
            <a:r>
              <a:rPr lang="en-IN" sz="200" dirty="0"/>
              <a:t>("\n Print of interface I1");</a:t>
            </a:r>
          </a:p>
          <a:p>
            <a:r>
              <a:rPr lang="en-IN" sz="200" dirty="0"/>
              <a:t>    }</a:t>
            </a:r>
          </a:p>
          <a:p>
            <a:r>
              <a:rPr lang="en-IN" sz="200" dirty="0"/>
              <a:t>    public void display()</a:t>
            </a:r>
          </a:p>
          <a:p>
            <a:r>
              <a:rPr lang="en-IN" sz="200" dirty="0"/>
              <a:t>    {</a:t>
            </a:r>
          </a:p>
          <a:p>
            <a:r>
              <a:rPr lang="en-IN" sz="200" dirty="0"/>
              <a:t>        </a:t>
            </a:r>
            <a:r>
              <a:rPr lang="en-IN" sz="200" dirty="0" err="1"/>
              <a:t>System.out.print</a:t>
            </a:r>
            <a:r>
              <a:rPr lang="en-IN" sz="200" dirty="0"/>
              <a:t>("\n Display of interface I2");</a:t>
            </a:r>
          </a:p>
          <a:p>
            <a:r>
              <a:rPr lang="en-IN" sz="200" dirty="0"/>
              <a:t>    }</a:t>
            </a:r>
          </a:p>
          <a:p>
            <a:r>
              <a:rPr lang="en-IN" sz="200" dirty="0"/>
              <a:t>}</a:t>
            </a:r>
          </a:p>
          <a:p>
            <a:r>
              <a:rPr lang="en-IN" sz="200" dirty="0"/>
              <a:t>public class </a:t>
            </a:r>
            <a:r>
              <a:rPr lang="en-IN" sz="200" dirty="0" err="1"/>
              <a:t>InterfaceDemo</a:t>
            </a:r>
            <a:endParaRPr lang="en-IN" sz="200" dirty="0"/>
          </a:p>
          <a:p>
            <a:r>
              <a:rPr lang="en-IN" sz="200" dirty="0"/>
              <a:t>{</a:t>
            </a:r>
          </a:p>
          <a:p>
            <a:r>
              <a:rPr lang="en-IN" sz="200" dirty="0"/>
              <a:t>    public static void main()</a:t>
            </a:r>
          </a:p>
          <a:p>
            <a:r>
              <a:rPr lang="en-IN" sz="200" dirty="0"/>
              <a:t>    {</a:t>
            </a:r>
          </a:p>
          <a:p>
            <a:r>
              <a:rPr lang="en-IN" sz="200" dirty="0"/>
              <a:t>        C1 </a:t>
            </a:r>
            <a:r>
              <a:rPr lang="en-IN" sz="200" dirty="0" err="1"/>
              <a:t>obj</a:t>
            </a:r>
            <a:r>
              <a:rPr lang="en-IN" sz="200" dirty="0"/>
              <a:t> = new C1();</a:t>
            </a:r>
          </a:p>
          <a:p>
            <a:r>
              <a:rPr lang="en-IN" sz="200" dirty="0"/>
              <a:t>        </a:t>
            </a:r>
            <a:r>
              <a:rPr lang="en-IN" sz="200" dirty="0" err="1"/>
              <a:t>obj.print</a:t>
            </a:r>
            <a:r>
              <a:rPr lang="en-IN" sz="200" dirty="0"/>
              <a:t>();</a:t>
            </a:r>
          </a:p>
          <a:p>
            <a:r>
              <a:rPr lang="en-IN" sz="200" dirty="0"/>
              <a:t>        </a:t>
            </a:r>
            <a:r>
              <a:rPr lang="en-IN" sz="200" dirty="0" err="1"/>
              <a:t>obj.display</a:t>
            </a:r>
            <a:r>
              <a:rPr lang="en-IN" sz="200" dirty="0"/>
              <a:t>();                </a:t>
            </a:r>
          </a:p>
          <a:p>
            <a:r>
              <a:rPr lang="en-IN" sz="200" dirty="0"/>
              <a:t>    }    </a:t>
            </a:r>
          </a:p>
          <a:p>
            <a:r>
              <a:rPr lang="en-IN" sz="200" dirty="0"/>
              <a:t>}</a:t>
            </a:r>
          </a:p>
          <a:p>
            <a:endParaRPr lang="en-IN" sz="200" dirty="0"/>
          </a:p>
        </p:txBody>
      </p:sp>
    </p:spTree>
    <p:extLst>
      <p:ext uri="{BB962C8B-B14F-4D97-AF65-F5344CB8AC3E}">
        <p14:creationId xmlns:p14="http://schemas.microsoft.com/office/powerpoint/2010/main" val="13292944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7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5352</TotalTime>
  <Words>1215</Words>
  <Application>Microsoft Office PowerPoint</Application>
  <PresentationFormat>Widescreen</PresentationFormat>
  <Paragraphs>322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Times New Roman</vt:lpstr>
      <vt:lpstr>Office Theme</vt:lpstr>
      <vt:lpstr>Programming in  Java  (BCAC 0012) Module-2 </vt:lpstr>
      <vt:lpstr>Module 2 Section 3  Packages and Interfaces </vt:lpstr>
      <vt:lpstr>Syllabus </vt:lpstr>
      <vt:lpstr>Packages is Java  </vt:lpstr>
      <vt:lpstr>Packages is Java  </vt:lpstr>
      <vt:lpstr>Advantage of Java Package </vt:lpstr>
      <vt:lpstr>Packages is Java  </vt:lpstr>
      <vt:lpstr>There are two types of Packages in Java- </vt:lpstr>
      <vt:lpstr>Predefined packages or Built in packages </vt:lpstr>
      <vt:lpstr>Predefined packages or Built in packages </vt:lpstr>
      <vt:lpstr>User Defined Packages : Defining Packages</vt:lpstr>
      <vt:lpstr>User Defined Packages : Defining Packages</vt:lpstr>
      <vt:lpstr>User Defined Packages : Defining Packages</vt:lpstr>
      <vt:lpstr>User Defined Packages : Defining Packages</vt:lpstr>
      <vt:lpstr>User Defined Packages : Defining Packages</vt:lpstr>
      <vt:lpstr>User Defined Packages : Defining Packages</vt:lpstr>
      <vt:lpstr>Importing Packages</vt:lpstr>
      <vt:lpstr>Importing Packages</vt:lpstr>
      <vt:lpstr>Importing Packages</vt:lpstr>
      <vt:lpstr>Importing Packages</vt:lpstr>
      <vt:lpstr>Importing Packages</vt:lpstr>
      <vt:lpstr>Interfaces in Java </vt:lpstr>
      <vt:lpstr>Interfaces in Java </vt:lpstr>
      <vt:lpstr>Interfaces in Java </vt:lpstr>
      <vt:lpstr>Interfaces in Java </vt:lpstr>
      <vt:lpstr>Internal addition by the compiler</vt:lpstr>
      <vt:lpstr>Interfaces in Java </vt:lpstr>
      <vt:lpstr>// Java Interface Example</vt:lpstr>
      <vt:lpstr>PowerPoint Presentation</vt:lpstr>
      <vt:lpstr>PowerPoint Presentation</vt:lpstr>
      <vt:lpstr>Notes on Interfaces:</vt:lpstr>
      <vt:lpstr>Why And When To Use Interfaces?</vt:lpstr>
      <vt:lpstr>Multiple inheritance in Java by interface </vt:lpstr>
      <vt:lpstr>PowerPoint Presentation</vt:lpstr>
      <vt:lpstr>PowerPoint Presentation</vt:lpstr>
      <vt:lpstr>// Multiple inheritance using interfaces </vt:lpstr>
      <vt:lpstr>Multiple inheritance using interfaces</vt:lpstr>
      <vt:lpstr>PowerPoint Presentation</vt:lpstr>
      <vt:lpstr>PowerPoint Presentation</vt:lpstr>
      <vt:lpstr>Java 8 Interface Improvement </vt:lpstr>
      <vt:lpstr>Java 8 Interface Improvement </vt:lpstr>
      <vt:lpstr>PowerPoint Presentation</vt:lpstr>
      <vt:lpstr>PowerPoint Presentation</vt:lpstr>
      <vt:lpstr>// Multiple inheritance using interfaces </vt:lpstr>
      <vt:lpstr>Java 8 Static Method in Interface </vt:lpstr>
      <vt:lpstr>PowerPoint Presentation</vt:lpstr>
      <vt:lpstr>PowerPoint Presentation</vt:lpstr>
      <vt:lpstr>// Satic methods in interfaces </vt:lpstr>
      <vt:lpstr>Example discussed in class </vt:lpstr>
      <vt:lpstr>END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Framework Using VB.Net BCA 6002 Module-1</dc:title>
  <dc:creator>Vinod Jain</dc:creator>
  <cp:lastModifiedBy>Microsoft account</cp:lastModifiedBy>
  <cp:revision>372</cp:revision>
  <dcterms:created xsi:type="dcterms:W3CDTF">2020-01-06T03:50:22Z</dcterms:created>
  <dcterms:modified xsi:type="dcterms:W3CDTF">2025-10-28T00:16:46Z</dcterms:modified>
</cp:coreProperties>
</file>